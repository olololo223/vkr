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9"/>
  </p:notesMasterIdLst>
  <p:sldIdLst>
    <p:sldId id="272" r:id="rId3"/>
    <p:sldId id="258" r:id="rId4"/>
    <p:sldId id="269" r:id="rId5"/>
    <p:sldId id="257" r:id="rId6"/>
    <p:sldId id="262" r:id="rId7"/>
    <p:sldId id="259" r:id="rId8"/>
    <p:sldId id="260" r:id="rId9"/>
    <p:sldId id="261" r:id="rId10"/>
    <p:sldId id="264" r:id="rId11"/>
    <p:sldId id="263" r:id="rId12"/>
    <p:sldId id="270" r:id="rId13"/>
    <p:sldId id="266" r:id="rId14"/>
    <p:sldId id="267" r:id="rId15"/>
    <p:sldId id="271" r:id="rId16"/>
    <p:sldId id="268" r:id="rId17"/>
    <p:sldId id="273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C8CB0D-55BD-492A-B578-2DBD7AFBAA7D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7809F-5B57-48AB-9A15-E7E53FA7A7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8107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0" name="Google Shape;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23302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0" name="Google Shape;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89601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6C667-9A7A-46BB-8340-ADD63B63179F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DF6FB-836A-4656-92F4-5FA593605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617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6C667-9A7A-46BB-8340-ADD63B63179F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DF6FB-836A-4656-92F4-5FA593605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2746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6C667-9A7A-46BB-8340-ADD63B63179F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DF6FB-836A-4656-92F4-5FA593605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4758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6C667-9A7A-46BB-8340-ADD63B63179F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DF6FB-836A-4656-92F4-5FA593605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9212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6C667-9A7A-46BB-8340-ADD63B63179F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DF6FB-836A-4656-92F4-5FA593605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866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6C667-9A7A-46BB-8340-ADD63B63179F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DF6FB-836A-4656-92F4-5FA593605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4008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6C667-9A7A-46BB-8340-ADD63B63179F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DF6FB-836A-4656-92F4-5FA593605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1394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6C667-9A7A-46BB-8340-ADD63B63179F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DF6FB-836A-4656-92F4-5FA593605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4509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6C667-9A7A-46BB-8340-ADD63B63179F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DF6FB-836A-4656-92F4-5FA593605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5449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6C667-9A7A-46BB-8340-ADD63B63179F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DF6FB-836A-4656-92F4-5FA593605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4281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6C667-9A7A-46BB-8340-ADD63B63179F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DF6FB-836A-4656-92F4-5FA593605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9196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999140-C28A-FF2E-7C17-B05C1E2EDC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DD57017-CCD2-AF87-3B49-AE2F85AE0D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B1CA85-6B28-C2F8-B2B3-F16CACE29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84F70-E1B4-4EF1-BFA6-D448A162E539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17.11.2025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B4C43E-D2BC-5BCD-EEBB-623D47874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86D8AE-01F4-0E49-3A40-890DC0F9C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643F6-21D2-4971-8CAA-B93124DF98CF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6552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6D7CB9-A3A8-FA0F-8F40-F9517AD00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7FB532-4A0E-3BA8-3AA1-95E4A9D2F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653217-D562-C359-F054-9C530EE70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84F70-E1B4-4EF1-BFA6-D448A162E539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17.11.2025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4259A4-F673-3E19-A519-7E0DB1AC3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B57120-EC5B-2A35-9849-4419B68E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643F6-21D2-4971-8CAA-B93124DF98CF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7526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B3BF1D-43C1-25F0-40B3-7CCC6BA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64BCB89-49CA-1CBA-12CE-D7FABB138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A3E25D-6C2B-D95B-7F4C-452B32059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84F70-E1B4-4EF1-BFA6-D448A162E539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17.11.2025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F5BE34-5B94-D279-E8D6-A9C8CBA6A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B31DE11-0438-45C9-404F-3ACAA7E9B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643F6-21D2-4971-8CAA-B93124DF98CF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998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2565D8-E333-035C-DDAA-60EAA0560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CBC60E-FECD-1D2C-6A37-8E5D863FED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9081B51-4279-7210-CFF8-595F3C044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DDF8F2B-0895-5936-79CB-DCB0641E3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84F70-E1B4-4EF1-BFA6-D448A162E539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17.11.2025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B70909E-D299-A2C1-DF79-8E10D99DE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0AFC2E-54C8-1E0C-47DD-10780B38E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643F6-21D2-4971-8CAA-B93124DF98CF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88936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90F4EC-741C-28E3-2F8C-3E235B677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9D9A3AB-8B97-CC0D-B227-EF5D229AC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6468EFB-0803-F564-20D2-B0196D67C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EBE9A63-2581-46F1-40A1-07746985C7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3FF427E-C289-EB0D-FB94-B7F8C62549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E7B01A2-5C97-0C4F-1669-173BD93E1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84F70-E1B4-4EF1-BFA6-D448A162E539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17.11.2025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FD50CA4-A811-9B59-00EA-BB6A387DB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1FF6C9C-7376-84ED-5D63-B9862D216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643F6-21D2-4971-8CAA-B93124DF98CF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43937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E2D33C-1EF5-7C8C-B6C2-A01CBB1A5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2DD7356-83A2-AFFC-924F-313CDAC1E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84F70-E1B4-4EF1-BFA6-D448A162E539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17.11.2025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2B81C04-71F6-1A6F-AE4F-42978CDDB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CFA648E-918E-776B-8F40-17FA12E1B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643F6-21D2-4971-8CAA-B93124DF98CF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2354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CA685A3-3C43-CEC9-BF94-D4D0D8B3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84F70-E1B4-4EF1-BFA6-D448A162E539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17.11.2025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FE8CEF7-B121-7F83-5439-CFF0D6512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4FCCE5F-A896-D7A6-8963-91E16F255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643F6-21D2-4971-8CAA-B93124DF98CF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49448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1D6167-346A-FD2E-F872-4206035AF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465161-3D60-750B-E357-F6B7BD585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A0BE08-C634-FCA1-7D8E-0F4396C7B7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F349816-FDD7-7D1A-7E86-EAEF7382E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84F70-E1B4-4EF1-BFA6-D448A162E539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17.11.2025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56EAFA-253C-7F57-6A43-E0A9D9E95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602EBD-198D-90F5-55FB-CFF4C8524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643F6-21D2-4971-8CAA-B93124DF98CF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33820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D829FB-9EAF-4484-2701-2BF12477C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C23D1D5-9AFC-BF43-E241-85ACD37258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9EC1CA6-9B76-3051-3377-E3EDDFF463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0917722-5A5B-F490-50F1-1AB708B5D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84F70-E1B4-4EF1-BFA6-D448A162E539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17.11.2025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EA19DF2-5B07-43EC-E7DF-88803932C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20B1FA-CB95-E663-98D9-6A1B3750C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643F6-21D2-4971-8CAA-B93124DF98CF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43005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56A11F-C840-6ECD-7479-2B3D341E6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6E97092-E83D-4B7E-86FC-6F66DAB83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92A850-FC9D-4AB6-AB96-744E89AE3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84F70-E1B4-4EF1-BFA6-D448A162E539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17.11.2025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4E1FAD-4774-8003-3896-E36F61BDA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3E766A-30DD-7B54-1055-136249CCC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643F6-21D2-4971-8CAA-B93124DF98CF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81159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48E2DA1-24B1-0852-360A-CA31CCA96B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3FE8056-62F1-FC51-3B1E-554D19B63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EB9D2F-D967-5D5A-A236-8B1DCC32B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84F70-E1B4-4EF1-BFA6-D448A162E539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17.11.2025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24931B-762C-3CD4-B781-8C401A7EC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DA2C39-5149-A1C5-DB93-EB24C2EFF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643F6-21D2-4971-8CAA-B93124DF98CF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9948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46C667-9A7A-46BB-8340-ADD63B63179F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DF6FB-836A-4656-92F4-5FA593605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2342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8A8A88-1F92-469F-F398-5A1959CF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ECEC4F-2F3D-33C0-95AD-E99442A38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79BBA9-829B-E9B6-3AA2-00DC272DC1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84F70-E1B4-4EF1-BFA6-D448A162E539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17.11.2025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D927F5-455B-09D8-FE11-DE77202BA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493389-3126-4AA3-36C6-D247C8327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0643F6-21D2-4971-8CAA-B93124DF98CF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8978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/>
        </p:nvSpPr>
        <p:spPr>
          <a:xfrm>
            <a:off x="1523999" y="2639588"/>
            <a:ext cx="9143999" cy="434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r>
              <a:rPr lang="ru-RU" sz="1600" dirty="0">
                <a:latin typeface="Times New Roman"/>
                <a:cs typeface="Times New Roman"/>
                <a:sym typeface="Times New Roman"/>
              </a:rPr>
              <a:t>ОТЧЕТ</a:t>
            </a:r>
            <a:endParaRPr dirty="0"/>
          </a:p>
        </p:txBody>
      </p:sp>
      <p:sp>
        <p:nvSpPr>
          <p:cNvPr id="93" name="Google Shape;93;p1"/>
          <p:cNvSpPr txBox="1"/>
          <p:nvPr/>
        </p:nvSpPr>
        <p:spPr>
          <a:xfrm>
            <a:off x="1524000" y="206477"/>
            <a:ext cx="9143998" cy="1287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Министерство науки и высшего образования Российской Федерации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Clr>
                <a:schemeClr val="dk1"/>
              </a:buClr>
              <a:buSzPts val="1600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ФГАОУ ВО «Северо-Восточный федеральный университет им. М.К. </a:t>
            </a:r>
            <a:r>
              <a:rPr lang="ru-RU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Аммосова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»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Clr>
                <a:schemeClr val="dk1"/>
              </a:buClr>
              <a:buSzPts val="1600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Институт математики и информатики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Clr>
                <a:schemeClr val="dk1"/>
              </a:buClr>
              <a:buSzPts val="1600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Кафедра «Информационные технологии»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080760" y="4044092"/>
            <a:ext cx="3587239" cy="210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Выполнил: студент 4 курса </a:t>
            </a:r>
            <a:b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группа Б-ФИИТ-22 ИМИ </a:t>
            </a:r>
            <a:endParaRPr lang="ru-RU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/>
            <a:r>
              <a:rPr lang="ru-RU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Закиров Олег Андреевич</a:t>
            </a:r>
            <a:endParaRPr lang="ru-RU"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/>
            <a:endParaRPr lang="ru-RU"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/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Научный руководитель:</a:t>
            </a:r>
            <a:endParaRPr lang="ru-RU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/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старший преподаватель</a:t>
            </a:r>
            <a:b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кафедры ИТ ИМИ</a:t>
            </a:r>
          </a:p>
          <a:p>
            <a:pPr lvl="0"/>
            <a:r>
              <a:rPr lang="ru-RU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Петрова Евгения Анатольевна</a:t>
            </a:r>
            <a:endParaRPr lang="ru-RU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524000" y="6293330"/>
            <a:ext cx="91440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Якутск 2025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1524000" y="1628031"/>
            <a:ext cx="9143999" cy="890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1600"/>
            </a:pPr>
            <a:endParaRPr lang="ru-RU" sz="2200" b="1" dirty="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buClr>
                <a:schemeClr val="dk1"/>
              </a:buClr>
              <a:buSzPts val="1600"/>
            </a:pPr>
            <a:r>
              <a:rPr lang="ru-RU" sz="2200" b="1" dirty="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Б2.О.04(Н) Производственная практика. </a:t>
            </a:r>
          </a:p>
          <a:p>
            <a:pPr lvl="0" algn="ctr">
              <a:buClr>
                <a:schemeClr val="dk1"/>
              </a:buClr>
              <a:buSzPts val="1600"/>
            </a:pPr>
            <a:r>
              <a:rPr lang="ru-RU" sz="2200" b="1" dirty="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Научно-исследовательская работа</a:t>
            </a:r>
          </a:p>
        </p:txBody>
      </p:sp>
      <p:sp>
        <p:nvSpPr>
          <p:cNvPr id="97" name="Google Shape;97;p1"/>
          <p:cNvSpPr txBox="1"/>
          <p:nvPr/>
        </p:nvSpPr>
        <p:spPr>
          <a:xfrm>
            <a:off x="1524002" y="2956995"/>
            <a:ext cx="9143999" cy="1268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1"/>
              </a:buClr>
              <a:buSzPts val="1600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студента группы Б-ФИИТ-22</a:t>
            </a:r>
          </a:p>
          <a:p>
            <a:pPr lvl="0" algn="ctr">
              <a:buClr>
                <a:schemeClr val="dk1"/>
              </a:buClr>
              <a:buSzPts val="1600"/>
            </a:pPr>
            <a:r>
              <a:rPr lang="ru-RU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Закирова Олега Андреевича</a:t>
            </a:r>
            <a:endParaRPr lang="ru-RU"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buClr>
                <a:schemeClr val="dk1"/>
              </a:buClr>
              <a:buSzPts val="1600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Тема: «Разработка </a:t>
            </a:r>
            <a:r>
              <a:rPr lang="ru-RU" sz="1600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нейросетевой</a:t>
            </a:r>
            <a:r>
              <a:rPr lang="ru-RU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 модели для распознавания эмоций по мимике и речи»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3104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Растущая популярность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нейросетевых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моделей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Потребность в ПО с распознаванием эмоций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Нехватка ПО с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мультимодальными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системами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128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и предмет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- эмоциональное состояние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человека и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его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проявления в визуальной (мимика лица) и аудиальной (речь) модальностях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нейросетевой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 -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глубинного машинного обучения, используемые для распознавания эмоций по визуальным и аудиальным данным</a:t>
            </a:r>
          </a:p>
        </p:txBody>
      </p:sp>
    </p:spTree>
    <p:extLst>
      <p:ext uri="{BB962C8B-B14F-4D97-AF65-F5344CB8AC3E}">
        <p14:creationId xmlns:p14="http://schemas.microsoft.com/office/powerpoint/2010/main" val="3310163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работы: разработать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нейросетевую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модель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распознавания эмоций человека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мимике и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речи.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pPr marL="514350" indent="-514350"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Проанализировать предметную область</a:t>
            </a:r>
          </a:p>
          <a:p>
            <a:pPr marL="514350" indent="-514350"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нейросетевую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распознавания эмоций </a:t>
            </a:r>
          </a:p>
        </p:txBody>
      </p:sp>
    </p:spTree>
    <p:extLst>
      <p:ext uri="{BB962C8B-B14F-4D97-AF65-F5344CB8AC3E}">
        <p14:creationId xmlns:p14="http://schemas.microsoft.com/office/powerpoint/2010/main" val="2359818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Сравнительный анализ аналогов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800" y="1842175"/>
            <a:ext cx="12090400" cy="2824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226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 разработки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-836" t="4730" r="75402" b="15853"/>
          <a:stretch/>
        </p:blipFill>
        <p:spPr>
          <a:xfrm>
            <a:off x="4931063" y="1522521"/>
            <a:ext cx="1811481" cy="159937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234" y="3963917"/>
            <a:ext cx="3028950" cy="151447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8802" y="3773417"/>
            <a:ext cx="2676525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961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Нейросетевые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Нейросетевые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модели (нейронные сети) — это класс алгоритмов машинного обучения, основанный на принципах функционирования биологических нейронных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сетей. Основная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идея заключается в построении набора взаимосвязанных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вычислительных элементов,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которые преобразуют входные данные и обучаются выявлять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зависимости.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446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Сверточные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нейронные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сети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(CNN)</a:t>
            </a:r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7328876" cy="4351338"/>
          </a:xfrm>
        </p:spPr>
        <p:txBody>
          <a:bodyPr/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Сверточные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нейронные сети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Networks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или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CNN) — это класс глубоких 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нейронных </a:t>
            </a:r>
            <a:r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сетей, разработанный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обработки данных, имеющих сеточную структуру, например изображений или спектрограмм 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аудио</a:t>
            </a:r>
            <a:r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476" y="1690688"/>
            <a:ext cx="4024924" cy="3595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121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датасетов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качестве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датасетов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были выбраны: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FER2013+</a:t>
            </a: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887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изображений, 48х48 пикселей, 7 эмоций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.jpg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RAVDESS(Ryerson Audio-Visual Database of Emotional Speech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Song)</a:t>
            </a:r>
          </a:p>
          <a:p>
            <a:pPr lvl="1"/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1440 </a:t>
            </a:r>
            <a:r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записей, 16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бит, 48 кГц, .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6163" y="3823855"/>
            <a:ext cx="2599622" cy="260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536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CNN-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Было решено создать визуальную модель и аудиальную модель на основе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свёрточных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слоев.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Визуальная модель(64%):  Аудиальная модель(96%):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74" y="3232726"/>
            <a:ext cx="5667081" cy="301170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455" y="3156022"/>
            <a:ext cx="5785148" cy="3088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01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12694"/>
          </a:xfrm>
        </p:spPr>
        <p:txBody>
          <a:bodyPr/>
          <a:lstStyle/>
          <a:p>
            <a:r>
              <a:rPr lang="ru-RU" dirty="0" smtClean="0"/>
              <a:t>Пример </a:t>
            </a:r>
            <a:r>
              <a:rPr lang="en-US" dirty="0" smtClean="0"/>
              <a:t>CNN-</a:t>
            </a:r>
            <a:r>
              <a:rPr lang="ru-RU" dirty="0" smtClean="0"/>
              <a:t>структуры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4020" y="1477819"/>
            <a:ext cx="6319437" cy="507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371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Мультимодальная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модель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Визуальная и аудиальная модели были объединены в одну модель(75%): 		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Но при тестировании 								модели с камерой и 								микрофоном выяснилось, 							что модель выдаёт не 								те эмоции. Было 									принято решение 									использовать 									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предобученные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модели.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79" y="2840471"/>
            <a:ext cx="5604421" cy="3167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03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Предобученные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1825625"/>
            <a:ext cx="10716491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Были использованы следующие модели: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ResNet18(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анализа изображения)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Wav2Vec2(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анализа голоса)</a:t>
            </a:r>
            <a:endParaRPr lang="en-US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whisper +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RuBERT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рус.)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/RoBERTa</a:t>
            </a:r>
            <a:r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(англ.) (для определения слов)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120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использования </a:t>
            </a:r>
            <a:r>
              <a:rPr lang="ru-RU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предобученной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модели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3827" y="2281382"/>
            <a:ext cx="8724345" cy="177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524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Были проанализированы предметная область и аналоги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Были изучены подходы к работе с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нейросетевыми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моделями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Было выяснено что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вместе с его библиотеками является хорошим инструментом для работы с 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нейросетевыми моделями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565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/>
        </p:nvSpPr>
        <p:spPr>
          <a:xfrm>
            <a:off x="1523999" y="2639588"/>
            <a:ext cx="9143999" cy="434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r>
              <a:rPr lang="ru-RU" sz="1600" dirty="0">
                <a:latin typeface="Times New Roman"/>
                <a:cs typeface="Times New Roman"/>
                <a:sym typeface="Times New Roman"/>
              </a:rPr>
              <a:t>ОТЧЕТ</a:t>
            </a:r>
            <a:endParaRPr dirty="0"/>
          </a:p>
        </p:txBody>
      </p:sp>
      <p:sp>
        <p:nvSpPr>
          <p:cNvPr id="93" name="Google Shape;93;p1"/>
          <p:cNvSpPr txBox="1"/>
          <p:nvPr/>
        </p:nvSpPr>
        <p:spPr>
          <a:xfrm>
            <a:off x="1524000" y="206477"/>
            <a:ext cx="9143998" cy="1287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Министерство науки и высшего образования Российской Федерации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Clr>
                <a:schemeClr val="dk1"/>
              </a:buClr>
              <a:buSzPts val="1600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ФГАОУ ВО «Северо-Восточный федеральный университет им. М.К. </a:t>
            </a:r>
            <a:r>
              <a:rPr lang="ru-RU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Аммосова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»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Clr>
                <a:schemeClr val="dk1"/>
              </a:buClr>
              <a:buSzPts val="1600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Институт математики и информатики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Clr>
                <a:schemeClr val="dk1"/>
              </a:buClr>
              <a:buSzPts val="1600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Кафедра «Информационные технологии»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080760" y="4044092"/>
            <a:ext cx="3587239" cy="210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Выполнил: студент 4 курса </a:t>
            </a:r>
            <a:b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группа Б-ФИИТ-22 ИМИ </a:t>
            </a:r>
            <a:endParaRPr lang="ru-RU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/>
            <a:r>
              <a:rPr lang="ru-RU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Закиров Олег Андреевич</a:t>
            </a:r>
            <a:endParaRPr lang="ru-RU"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/>
            <a:endParaRPr lang="ru-RU"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/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Научный руководитель:</a:t>
            </a:r>
            <a:endParaRPr lang="ru-RU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/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старший преподаватель</a:t>
            </a:r>
            <a:b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кафедры ИТ ИМИ</a:t>
            </a:r>
          </a:p>
          <a:p>
            <a:pPr lvl="0"/>
            <a:r>
              <a:rPr lang="ru-RU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Петрова Евгения Анатольевна</a:t>
            </a:r>
            <a:endParaRPr lang="ru-RU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524000" y="6293330"/>
            <a:ext cx="91440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Якутск 2025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1524000" y="1628031"/>
            <a:ext cx="9143999" cy="890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1600"/>
            </a:pPr>
            <a:endParaRPr lang="ru-RU" sz="2200" b="1" dirty="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buClr>
                <a:schemeClr val="dk1"/>
              </a:buClr>
              <a:buSzPts val="1600"/>
            </a:pPr>
            <a:r>
              <a:rPr lang="ru-RU" sz="2200" b="1" dirty="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Б2.О.04(Н) Производственная практика. </a:t>
            </a:r>
          </a:p>
          <a:p>
            <a:pPr lvl="0" algn="ctr">
              <a:buClr>
                <a:schemeClr val="dk1"/>
              </a:buClr>
              <a:buSzPts val="1600"/>
            </a:pPr>
            <a:r>
              <a:rPr lang="ru-RU" sz="2200" b="1" dirty="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Научно-исследовательская работа</a:t>
            </a:r>
          </a:p>
        </p:txBody>
      </p:sp>
      <p:sp>
        <p:nvSpPr>
          <p:cNvPr id="97" name="Google Shape;97;p1"/>
          <p:cNvSpPr txBox="1"/>
          <p:nvPr/>
        </p:nvSpPr>
        <p:spPr>
          <a:xfrm>
            <a:off x="1524002" y="2956995"/>
            <a:ext cx="9143999" cy="1268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1"/>
              </a:buClr>
              <a:buSzPts val="1600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студента группы Б-ФИИТ-22</a:t>
            </a:r>
          </a:p>
          <a:p>
            <a:pPr lvl="0" algn="ctr">
              <a:buClr>
                <a:schemeClr val="dk1"/>
              </a:buClr>
              <a:buSzPts val="1600"/>
            </a:pPr>
            <a:r>
              <a:rPr lang="ru-RU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Закирова Олега Андреевича</a:t>
            </a:r>
            <a:endParaRPr lang="ru-RU"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buClr>
                <a:schemeClr val="dk1"/>
              </a:buClr>
              <a:buSzPts val="1600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Тема: «Разработка </a:t>
            </a:r>
            <a:r>
              <a:rPr lang="ru-RU" sz="1600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нейросетевой</a:t>
            </a:r>
            <a:r>
              <a:rPr lang="ru-RU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 модели для распознавания эмоций по мимике и речи»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4623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447</Words>
  <Application>Microsoft Office PowerPoint</Application>
  <PresentationFormat>Широкоэкранный</PresentationFormat>
  <Paragraphs>78</Paragraphs>
  <Slides>16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16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Calibri Light</vt:lpstr>
      <vt:lpstr>Times New Roman</vt:lpstr>
      <vt:lpstr>Тема Office</vt:lpstr>
      <vt:lpstr>1_Тема Office</vt:lpstr>
      <vt:lpstr>Презентация PowerPoint</vt:lpstr>
      <vt:lpstr>Актуальность</vt:lpstr>
      <vt:lpstr>Объект и предмет</vt:lpstr>
      <vt:lpstr>Цель и задачи</vt:lpstr>
      <vt:lpstr>Сравнительный анализ аналогов</vt:lpstr>
      <vt:lpstr>Средства разработки</vt:lpstr>
      <vt:lpstr>Нейросетевые модели</vt:lpstr>
      <vt:lpstr>Сверточные нейронные сети(CNN)</vt:lpstr>
      <vt:lpstr>Выбор датасетов</vt:lpstr>
      <vt:lpstr>CNN-модели</vt:lpstr>
      <vt:lpstr>Пример CNN-структуры</vt:lpstr>
      <vt:lpstr>Мультимодальная модель</vt:lpstr>
      <vt:lpstr>Предобученные модели</vt:lpstr>
      <vt:lpstr>Пример использования предобученной модели</vt:lpstr>
      <vt:lpstr>Заключение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Министерство науки и высшего образования Российской Федерации ФГАОУ ВО «Северо-Восточный федеральный университет имени М.К. Аммосова» Институт математики и информатики Кафедра «Информационные технологии»</dc:title>
  <dc:creator>Пользователь Windows</dc:creator>
  <cp:lastModifiedBy>Пользователь Windows</cp:lastModifiedBy>
  <cp:revision>21</cp:revision>
  <dcterms:created xsi:type="dcterms:W3CDTF">2025-11-16T11:35:22Z</dcterms:created>
  <dcterms:modified xsi:type="dcterms:W3CDTF">2025-11-17T06:58:25Z</dcterms:modified>
</cp:coreProperties>
</file>